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035040"/>
            <a:ext cx="1216152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217920"/>
            <a:ext cx="3040380" cy="274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spc="4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 2026 — emerging-results submission · colleague briefing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Civic-Tech</a:t>
            </a:r>
            <a:endParaRPr lang="en-US" sz="5400" dirty="0"/>
          </a:p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Open-Source Landscape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40080" y="4206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Sustainability challenges across 37 projects.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repos  ·  16 organisations  ·  6 continents  ·  15 years  ·  178k commits  ·  2,506 contributor records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Civic tech is public infrastructure.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don't actually know how it's holding up.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CIVIC TECH ACTUALLY 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5212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Elections and voter information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services and benefits portals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Freedom-of-information platforms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monitoring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social infrastructure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mapping, deliberation, transparency tools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2468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MEASURE IT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278892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volunteer-led. Intermittently funded. Small non-profit teams. When a project fails, the cost falls on democratic participation and public-service delivery — not on private customers.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425196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literature is qualitative civic-tech work or quantitative OSS-health work on commercial flagships. No quantitative landscape of civic-tech specifically.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5760720"/>
            <a:ext cx="1088136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question:  what does the civic-tech OSS landscape look like, and where are its sustainability stresses?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purposive sample covering scale, age, and topic.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artefacts open-source under CC-BY 4.0 / MIT; Zenodo-archived.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286000"/>
            <a:ext cx="265176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468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40080" y="3337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6576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16 organisations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74720" y="22860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74720" y="2286000"/>
            <a:ext cx="265176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3474720" y="2468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474720" y="3337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36576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Pan-African, EU, US, JP, AR, AU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09360" y="22860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2286000"/>
            <a:ext cx="265176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0" y="2468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309360" y="3337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history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09360" y="36576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earliest commit 2011-04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144000" y="22860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0" y="2286000"/>
            <a:ext cx="265176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0" y="2468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2,506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9144000" y="3337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contributor records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0" y="36576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22,486 contributor-weeks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45262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INCLUSION CRITERIA  (C1–C3, applied by two coders)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846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C1   </a:t>
            </a:r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Public-interest design intent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5212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mission at project inception, not incidental use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480560" y="4846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C2   </a:t>
            </a:r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Public-interest steward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480560" y="5212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Non-profit, government, academic, or civic collective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321040" y="4846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C3   </a:t>
            </a:r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development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21040" y="5212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Git forge with public commit history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candidate repositories  →  21 failed C1  ·  6 failed C3  →  37 in sample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DRIVE-BY CONTRIBUTION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than half of contributors never come back.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52%</a:t>
            </a:r>
            <a:endParaRPr lang="en-US" sz="13000" dirty="0"/>
          </a:p>
        </p:txBody>
      </p:sp>
      <p:sp>
        <p:nvSpPr>
          <p:cNvPr id="9" name="Text 7"/>
          <p:cNvSpPr/>
          <p:nvPr/>
        </p:nvSpPr>
        <p:spPr>
          <a:xfrm>
            <a:off x="640080" y="40690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2,506 human contributor records made a single commit and never returned.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5029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965960" y="50292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3 months of first commit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54132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2.4%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965960" y="54132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 activity &gt; 5 years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57972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11.5 : 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965960" y="57972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departed-to-active ratio (humans)</a:t>
            </a:r>
            <a:endParaRPr lang="en-US" sz="1200" dirty="0"/>
          </a:p>
        </p:txBody>
      </p:sp>
      <p:pic>
        <p:nvPicPr>
          <p:cNvPr id="16" name="Image 0" descr="../figures/fig_contributor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2194560"/>
            <a:ext cx="5669280" cy="32004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035040" y="55321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the 'total contributors' number on a repo's landing page is a poor proxy for current engagement. Drive-by patches are valuable — but they don't sustain a project.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Cores are dangerously thin.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46%</a:t>
            </a:r>
            <a:endParaRPr lang="en-US" sz="11000" dirty="0"/>
          </a:p>
        </p:txBody>
      </p:sp>
      <p:sp>
        <p:nvSpPr>
          <p:cNvPr id="9" name="Text 7"/>
          <p:cNvSpPr/>
          <p:nvPr/>
        </p:nvSpPr>
        <p:spPr>
          <a:xfrm>
            <a:off x="640080" y="3749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repositories have bus factor 1.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1605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developer accounts for ≥50% of project commits.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0" y="2286000"/>
            <a:ext cx="51206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606040"/>
            <a:ext cx="502920" cy="5029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223760" y="23774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7223760" y="29992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bus factor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0" y="3657600"/>
            <a:ext cx="51206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977640"/>
            <a:ext cx="502920" cy="5029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223760" y="37490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96.6%</a:t>
            </a:r>
            <a:endParaRPr lang="en-US" sz="2800" dirty="0"/>
          </a:p>
        </p:txBody>
      </p:sp>
      <p:sp>
        <p:nvSpPr>
          <p:cNvPr id="18" name="Text 14"/>
          <p:cNvSpPr/>
          <p:nvPr/>
        </p:nvSpPr>
        <p:spPr>
          <a:xfrm>
            <a:off x="7223760" y="43708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per-repo elephant-week share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0" y="5029200"/>
            <a:ext cx="51206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534924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223760" y="51206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p=7×10⁻⁶</a:t>
            </a:r>
            <a:endParaRPr lang="en-US" sz="2800" dirty="0"/>
          </a:p>
        </p:txBody>
      </p:sp>
      <p:sp>
        <p:nvSpPr>
          <p:cNvPr id="22" name="Text 17"/>
          <p:cNvSpPr/>
          <p:nvPr/>
        </p:nvSpPr>
        <p:spPr>
          <a:xfrm>
            <a:off x="7223760" y="5742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bots inflate HHI (Wilcoxon paired, n=37)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half the 37 repositories, almost every active week is dominated by a single contributor.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VS ACTIVITY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03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Counting commits hides how concentrated effort actually is.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repo, two Ginis: commits-per-contributor (activity) and lines-changed-per-contributor (effort). Paired Wilcoxon across the 37 repos — within-repository design, robust to coverage problems.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297680"/>
            <a:ext cx="5029200" cy="2011680"/>
          </a:xfrm>
          <a:prstGeom prst="rect">
            <a:avLst/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4754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478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= 4.8 × 10⁻⁵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68680" y="5577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Effort-Gini exceeds commit-Gini in 27 of 37 repositories (Wilcoxon W = 53.0). Mean Δ = +0.052.</a:t>
            </a:r>
            <a:endParaRPr lang="en-US" sz="1200" dirty="0"/>
          </a:p>
        </p:txBody>
      </p:sp>
      <p:pic>
        <p:nvPicPr>
          <p:cNvPr id="14" name="Image 0" descr="../figures/fig_effort_gini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2194560"/>
            <a:ext cx="5669280" cy="36576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035040" y="59436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flagship scale the line-Gini saturates near 1 while the commit-Gini stays at 0.76–0.95 — large refactor commits dominate effort even when commit counts look balanced.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 · SURVIVAL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04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057400" y="868680"/>
            <a:ext cx="132588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8686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05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417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Backlogs accumulate. Survivors intensify.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52120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286000"/>
            <a:ext cx="91440" cy="41148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14600"/>
            <a:ext cx="502920" cy="5029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554480" y="2606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0.98</a:t>
            </a:r>
            <a:endParaRPr lang="en-US" sz="4800" dirty="0"/>
          </a:p>
        </p:txBody>
      </p:sp>
      <p:sp>
        <p:nvSpPr>
          <p:cNvPr id="15" name="Text 12"/>
          <p:cNvSpPr/>
          <p:nvPr/>
        </p:nvSpPr>
        <p:spPr>
          <a:xfrm>
            <a:off x="91440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stale-issue ratio (n=26 repos with open issues).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914400" y="4526280"/>
            <a:ext cx="44805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663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 no release discipline: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14400" y="49834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of 37 repositories (54%) have never tagged a release.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14400" y="54406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five projects more than 9 years old — a 15-year-old FOI platform, an 11-year-old polling-station service.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309360" y="2286000"/>
            <a:ext cx="52120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309360" y="2286000"/>
            <a:ext cx="91440" cy="411480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514600"/>
            <a:ext cx="502920" cy="5029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223760" y="2606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SURVIVOR PARADOX</a:t>
            </a:r>
            <a:endParaRPr lang="en-US" sz="1100" dirty="0"/>
          </a:p>
        </p:txBody>
      </p:sp>
      <p:pic>
        <p:nvPicPr>
          <p:cNvPr id="24" name="Image 2" descr="../figures/fig_activity_vs_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154680"/>
            <a:ext cx="4754880" cy="22860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583680" y="55321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weekly commits rise with project age — but the projects that died aren't in this sample. Survivor bias, not health.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CROSS-PROJECT ECOSYSTEM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06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civic-tech ecosystem is thin and umbrella-bounded.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5.5%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unique humans contribute to ≥ 2 of our 37 repositories.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794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of 2,055 humans, after bot filtering.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4297680"/>
            <a:ext cx="5029200" cy="210312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4348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SENSITIVITY CHECK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475488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112 multi-repo humans, only </a:t>
            </a:r>
            <a:pPr algn="l"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8.9% (10)</a:t>
            </a:r>
            <a:pPr algn="l" indent="0" marL="0">
              <a:buNone/>
            </a:pPr>
            <a:r>
              <a:rPr lang="en-US" sz="12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span ≥ 2 distinct organisations.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whole sample that leaves </a:t>
            </a:r>
            <a:pPr algn="l"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0.5%</a:t>
            </a:r>
            <a:pPr algn="l" indent="0" marL="0">
              <a:buNone/>
            </a:pPr>
            <a:r>
              <a:rPr lang="en-US" sz="12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all humans across the 37 repositories as genuinely cross-organisational. Invariant to umbrella over-representation in our frame.</a:t>
            </a:r>
            <a:endParaRPr lang="en-US" sz="1200" dirty="0"/>
          </a:p>
        </p:txBody>
      </p:sp>
      <p:pic>
        <p:nvPicPr>
          <p:cNvPr id="14" name="Image 0" descr="../figures/fig_cross_project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2194560"/>
            <a:ext cx="5669280" cy="41148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035040" y="63550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the cross-project contributor pool is small AND umbrella-bounded. Sustainability interventions assuming cross-cutting volunteer flow don't have that flow to work with.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038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axes for the longer-term programme.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 2026 abstract due May 22 · full submission May 29.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3611880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286000"/>
            <a:ext cx="36118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5146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914400" y="3246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Longitudinal tracking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379476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recrawls of the 37 repositories over 24 months. Change-over-time on the six challenges. Event-study designs around governance changes.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2286000"/>
            <a:ext cx="3611880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2286000"/>
            <a:ext cx="36118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25146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754880" y="3246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Replication &amp; extension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54880" y="379476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Non-GitHub hosts (GitLab, Codeberg, self-hosted Gitea). Larger civic-tech population (target n ≥ 100). Cross-platform consistency checks.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321040" y="2286000"/>
            <a:ext cx="3611880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2286000"/>
            <a:ext cx="36118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8595360" y="25146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L3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8595360" y="3246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Failed-projects comparison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595360" y="379476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sample of civic-tech repositories that ceased activity. Convert survivor observations into causal claims about lifecycle.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623560"/>
            <a:ext cx="10881360" cy="868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62356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I'd love your input:  </a:t>
            </a:r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of the six challenges  ·  candidates for L1/L2/L3  ·  </a:t>
            </a:r>
            <a:pPr algn="l" indent="0" marL="0">
              <a:buNone/>
            </a:pPr>
            <a:r>
              <a:rPr lang="en-US" sz="1400" b="1" dirty="0">
                <a:solidFill>
                  <a:srgbClr val="FEF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(2023–25) OSS-health refs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Civic-Tech OSS Landscape — colleague briefing</dc:title>
  <dc:subject>PptxGenJS Presentation</dc:subject>
  <dc:creator>Anonymous</dc:creator>
  <cp:lastModifiedBy>Anonymous</cp:lastModifiedBy>
  <cp:revision>1</cp:revision>
  <dcterms:created xsi:type="dcterms:W3CDTF">2026-05-19T07:23:47Z</dcterms:created>
  <dcterms:modified xsi:type="dcterms:W3CDTF">2026-05-19T07:23:47Z</dcterms:modified>
</cp:coreProperties>
</file>