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615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30403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 2026 — emerging-results submission · colleague briefing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Civic-Tech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Landscape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challenges across 37 projects.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repos  ·  16 organisations  ·  6 continents  ·  15 years  ·  178k commits  ·  2,506 contributor records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tech is public infrastructure.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actually know how it's holding up.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CIVIC TECH ACTUALLY 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Elections and voter information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services and benefits portals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Freedom-of-information platforms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social infrastructure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mapping, deliberation, transparency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MEASURE 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7889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volunteer-led. Intermittently funded. Small non-profit teams. When a project fails, the cost falls on democratic participation and public-service delivery — not on private customers.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42519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literature is qualitative civic-tech work or quantitative OSS-health work on commercial flagships. No quantitative landscape of civic-tech specifically.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question:  what does the civic-tech OSS landscape look like, and where are its sustainability stresses?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purposive panel covering scale, age, and topic.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artefacts open-source under CC-BY 4.0 / MIT; Zenodo-archived.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8600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16 organisations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228600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47472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Pan-African, EU, US, JP, AR, AU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28600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3093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commit 2011-04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228600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2,506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914400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records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22,486 contributor-weeks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  (C1–C3, applied by two coders)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 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Public-interest design intent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mission at project inception, not incidental use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  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Public-interest steward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Non-profit, government, academic, or civic collective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  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development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 forge with public commit history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candidate repositories  →  21 failed C1  ·  6 failed C3  →  37 in panel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DRIVE-BY CONTRIBUTION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 half of contributors never come back.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2,506 human contributor records made a single commit and never returned.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65960" y="5029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 months of first commit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413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5413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activity &gt; 5 years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7972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 :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57972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departed-to-active ratio (humans)</a:t>
            </a:r>
            <a:endParaRPr lang="en-US" sz="1200" dirty="0"/>
          </a:p>
        </p:txBody>
      </p:sp>
      <p:pic>
        <p:nvPicPr>
          <p:cNvPr id="16" name="Image 0" descr="../figures/fig_contributor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194560"/>
            <a:ext cx="566928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035040" y="55321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'total contributors' number on a repo's landing page is a poor proxy for current engagement. Drive-by patches are valuable — but they don't sustain a project.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Cores are dangerously thin.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repositories have bus factor 1.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developer accounts for ≥50% of project commits.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5120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6060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23760" y="2377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23760" y="2999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bus factor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3657600"/>
            <a:ext cx="5120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9776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3749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96.6%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7223760" y="4370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per-repo elephant-week share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0" y="5029200"/>
            <a:ext cx="5120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3492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23760" y="5120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p=7×10⁻⁶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7223760" y="5742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inflate HHI (Wilcoxon paired, n=37)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half the panel, almost every active week is dominated by a single contributor.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VS ACTIVITY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commits hides how concentrated effort actually is.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repo, two Ginis: commits-per-contributor (activity) and lines-changed-per-contributor (effort). Paired Wilcoxon across the 37 repos — within-repository design, robust to coverage problems.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029200" cy="20116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754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4.8 × 10⁻⁵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" y="5577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Effort-Gini exceeds commit-Gini in 27 of 37 repositories (Wilcoxon W = 53.0). Mean Δ = +0.052.</a:t>
            </a:r>
            <a:endParaRPr lang="en-US" sz="1200" dirty="0"/>
          </a:p>
        </p:txBody>
      </p:sp>
      <p:pic>
        <p:nvPicPr>
          <p:cNvPr id="14" name="Image 0" descr="../figures/fig2_effort_g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194560"/>
            <a:ext cx="5669280" cy="3657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35040" y="5943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flagship scale the line-Gini saturates near 1 while the commit-Gini stays at 0.76–0.95 — large refactor commits dominate effort even when commit counts look balanced.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· SURVIVAL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868680"/>
            <a:ext cx="13258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868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Backlogs accumulate. Survivors intensify.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286000"/>
            <a:ext cx="91440" cy="4114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144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stale-issue ratio (n=26 repos with open issues).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" y="4526280"/>
            <a:ext cx="4480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no release discipline: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983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37 repositories (54%) have never tagged a release.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54406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five projects more than 9 years old — a 15-year-old FOI platform, an 11-year-old polling-station service.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228600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2286000"/>
            <a:ext cx="91440" cy="4114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1460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2376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SURVIVOR PARADOX</a:t>
            </a:r>
            <a:endParaRPr lang="en-US" sz="1100" dirty="0"/>
          </a:p>
        </p:txBody>
      </p:sp>
      <p:pic>
        <p:nvPicPr>
          <p:cNvPr id="24" name="Image 2" descr="../figures/fig_activity_vs_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54680"/>
            <a:ext cx="4754880" cy="22860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5532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commits rise with project age — but the projects that died aren't in this sample. Survivor bias, not health.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ECOSYSTEM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Cross-project work happens inside umbrella networks.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12.3%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contributors are active in ≥ 2 panel projects.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of 511 total contributors (59 of 498 humans).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5029200" cy="1737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00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CIVIC-TECH CONTRIBUTOR CLASS 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Africa supplies the four most-cross-project humans. Code for America and Democracy Club contribute others. The ecosystem that exists is organisational, not topic-wide.</a:t>
            </a:r>
            <a:endParaRPr lang="en-US" sz="1200" dirty="0"/>
          </a:p>
        </p:txBody>
      </p:sp>
      <p:pic>
        <p:nvPicPr>
          <p:cNvPr id="14" name="Image 0" descr="../figures/fig_cross_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194560"/>
            <a:ext cx="5669280" cy="411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35040" y="6355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sustainability programmes that aim to grow a broader cross-cutting contributor class need to provide cross-umbrella programming explicitly — there isn't one already.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03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axes for the longer-term programme.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 2026 abstract due May 22 · full submission May 29.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6118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6118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14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Longitudinal tracking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recrawls of the 37-repo panel over 24 months. Change-over-time on the six challenges. Event-study designs around governance changes.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286000"/>
            <a:ext cx="36118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286000"/>
            <a:ext cx="36118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514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Replication &amp; extension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Non-GitHub hosts (GitLab, Codeberg, self-hosted Gitea). Larger civic-tech population (target n ≥ 100). Cross-platform consistency checks.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2286000"/>
            <a:ext cx="36118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286000"/>
            <a:ext cx="36118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2514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9536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Failed-projects comparison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0" y="3794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panel of civic-tech repositories that ceased activity. Convert survivor observations into causal claims about lifecycle.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88136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623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I'd love your input: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of the six challenges  ·  candidates for L1/L2/L3  ·  </a:t>
            </a:r>
            <a:pPr algn="l" indent="0" marL="0">
              <a:buNone/>
            </a:pPr>
            <a:r>
              <a:rPr lang="en-US" sz="14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(2023–25) OSS-health refs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Civic-Tech OSS Landscape — colleague briefing</dc:title>
  <dc:subject>PptxGenJS Presentation</dc:subject>
  <dc:creator>Anonymous</dc:creator>
  <cp:lastModifiedBy>Anonymous</cp:lastModifiedBy>
  <cp:revision>1</cp:revision>
  <dcterms:created xsi:type="dcterms:W3CDTF">2026-05-19T05:43:10Z</dcterms:created>
  <dcterms:modified xsi:type="dcterms:W3CDTF">2026-05-19T05:43:10Z</dcterms:modified>
</cp:coreProperties>
</file>